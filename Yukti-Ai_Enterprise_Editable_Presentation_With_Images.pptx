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20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28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8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3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6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08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6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09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5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5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58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9692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80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40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1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2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2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287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914400" cy="6858000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738360" y="0"/>
            <a:ext cx="685800" cy="6858000"/>
          </a:xfrm>
          <a:prstGeom prst="rect">
            <a:avLst/>
          </a:prstGeom>
          <a:solidFill>
            <a:srgbClr val="20A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405872" y="0"/>
            <a:ext cx="457200" cy="6858000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YUKTI-AI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498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Business Automation</a:t>
            </a:r>
            <a:br/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B5D6FA"/>
                </a:solidFill>
                <a:latin typeface="Aptos"/>
              </a:defRPr>
            </a:pPr>
            <a:r>
              <a:t>Automate • Integrate • Standardize •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1554480" cy="329184"/>
          </a:xfrm>
          <a:prstGeom prst="round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ENTERPRISE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794760"/>
            <a:ext cx="1325880" cy="329184"/>
          </a:xfrm>
          <a:prstGeom prst="round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API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794760"/>
            <a:ext cx="1417320" cy="329184"/>
          </a:xfrm>
          <a:prstGeom prst="roundRect">
            <a:avLst/>
          </a:prstGeom>
          <a:solidFill>
            <a:srgbClr val="20A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CLOUD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7132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8E4F2"/>
                </a:solidFill>
                <a:latin typeface="Aptos"/>
              </a:defRPr>
            </a:pPr>
            <a:r>
              <a:t>From incoming business data to clean records, CRM actions, reporting and mobile visibility.</a:t>
            </a:r>
          </a:p>
        </p:txBody>
      </p:sp>
      <p:pic>
        <p:nvPicPr>
          <p:cNvPr id="13" name="Picture 12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4315968"/>
            <a:ext cx="1234440" cy="1234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897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What Yukti-Ai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A unified automation layer for repetitive, rule-driven business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874519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27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1.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30632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Email attachments, CSV files, Google Sheets, APIs and CRM 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71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64008" cy="1874519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527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2.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84248"/>
            <a:ext cx="30632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Clean, validate, normalize, map and check data using repeatable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71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37160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3" y="1527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3. 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84248"/>
            <a:ext cx="30632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Create master outputs, push data to CRM, generate summaries and trigger actions.</a:t>
            </a:r>
          </a:p>
        </p:txBody>
      </p:sp>
      <p:pic>
        <p:nvPicPr>
          <p:cNvPr id="17" name="Picture 16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03320"/>
            <a:ext cx="3429000" cy="2057400"/>
          </a:xfrm>
          <a:prstGeom prst="rect">
            <a:avLst/>
          </a:prstGeom>
        </p:spPr>
      </p:pic>
      <p:pic>
        <p:nvPicPr>
          <p:cNvPr id="18" name="Picture 17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3703320"/>
            <a:ext cx="3429000" cy="2057400"/>
          </a:xfrm>
          <a:prstGeom prst="rect">
            <a:avLst/>
          </a:prstGeom>
        </p:spPr>
      </p:pic>
      <p:pic>
        <p:nvPicPr>
          <p:cNvPr id="19" name="Picture 18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3" y="3703320"/>
            <a:ext cx="3429000" cy="2057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The Operational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Manual lead and data handling consumes time and creates inconsistency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C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Fragmented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3852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Email, CSV, spreadsheets, CRM and vendors.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4813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Manual reconciliation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3852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Download, merge, clean, map and validate.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64008" cy="1874519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3" y="14813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Raw data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3852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Names, mobile numbers, projects and sources need normalization.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874519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813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Delayed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7024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Management waits for manual consolidation.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3657600"/>
            <a:ext cx="64008" cy="1874519"/>
          </a:xfrm>
          <a:prstGeom prst="rect">
            <a:avLst/>
          </a:prstGeom>
          <a:solidFill>
            <a:srgbClr val="C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3712" y="3813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Duplicate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27024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Repeated records create unnecessary effort.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01583" y="365760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3" y="3813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Non-productive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427024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Employees spend time on data entry instead of follow-up.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End-to-End Automation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A controlled path from raw input to business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920240"/>
            <a:ext cx="1664208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212140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964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578608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B2039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136392"/>
            <a:ext cx="1444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0">
                <a:solidFill>
                  <a:srgbClr val="5B6C81"/>
                </a:solidFill>
                <a:latin typeface="Aptos"/>
              </a:defRPr>
            </a:pPr>
            <a:r>
              <a:t>Email • CSV • Sheets • API</a:t>
            </a:r>
          </a:p>
        </p:txBody>
      </p:sp>
      <p:sp>
        <p:nvSpPr>
          <p:cNvPr id="9" name="Chevron 8"/>
          <p:cNvSpPr/>
          <p:nvPr/>
        </p:nvSpPr>
        <p:spPr>
          <a:xfrm>
            <a:off x="2139696" y="2697480"/>
            <a:ext cx="210312" cy="384048"/>
          </a:xfrm>
          <a:prstGeom prst="chevron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77440" y="1920240"/>
            <a:ext cx="1664208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212140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97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78608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B2039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136392"/>
            <a:ext cx="1444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0">
                <a:solidFill>
                  <a:srgbClr val="5B6C81"/>
                </a:solidFill>
                <a:latin typeface="Aptos"/>
              </a:defRPr>
            </a:pPr>
            <a:r>
              <a:t>Automatic intake</a:t>
            </a:r>
          </a:p>
        </p:txBody>
      </p:sp>
      <p:sp>
        <p:nvSpPr>
          <p:cNvPr id="14" name="Chevron 13"/>
          <p:cNvSpPr/>
          <p:nvPr/>
        </p:nvSpPr>
        <p:spPr>
          <a:xfrm>
            <a:off x="4078224" y="2697480"/>
            <a:ext cx="210312" cy="384048"/>
          </a:xfrm>
          <a:prstGeom prst="chevron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15968" y="1920240"/>
            <a:ext cx="1664208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8" y="212140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0A6D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578608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B2039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136392"/>
            <a:ext cx="1444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0">
                <a:solidFill>
                  <a:srgbClr val="5B6C81"/>
                </a:solidFill>
                <a:latin typeface="Aptos"/>
              </a:defRPr>
            </a:pPr>
            <a:r>
              <a:t>Normalize &amp; standardize</a:t>
            </a:r>
          </a:p>
        </p:txBody>
      </p:sp>
      <p:sp>
        <p:nvSpPr>
          <p:cNvPr id="19" name="Chevron 18"/>
          <p:cNvSpPr/>
          <p:nvPr/>
        </p:nvSpPr>
        <p:spPr>
          <a:xfrm>
            <a:off x="6016752" y="2697480"/>
            <a:ext cx="210312" cy="384048"/>
          </a:xfrm>
          <a:prstGeom prst="chevron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54496" y="1920240"/>
            <a:ext cx="1664208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212140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B8F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578608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B2039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3136392"/>
            <a:ext cx="1444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0">
                <a:solidFill>
                  <a:srgbClr val="5B6C81"/>
                </a:solidFill>
                <a:latin typeface="Aptos"/>
              </a:defRPr>
            </a:pPr>
            <a:r>
              <a:t>Rules &amp; duplicate checks</a:t>
            </a:r>
          </a:p>
        </p:txBody>
      </p:sp>
      <p:sp>
        <p:nvSpPr>
          <p:cNvPr id="24" name="Chevron 23"/>
          <p:cNvSpPr/>
          <p:nvPr/>
        </p:nvSpPr>
        <p:spPr>
          <a:xfrm>
            <a:off x="7955279" y="2697480"/>
            <a:ext cx="210312" cy="384048"/>
          </a:xfrm>
          <a:prstGeom prst="chevron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93024" y="1920240"/>
            <a:ext cx="1664208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4464" y="212140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203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578608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B2039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3136392"/>
            <a:ext cx="1444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0">
                <a:solidFill>
                  <a:srgbClr val="5B6C81"/>
                </a:solidFill>
                <a:latin typeface="Aptos"/>
              </a:defRPr>
            </a:pPr>
            <a:r>
              <a:t>CRM • Master File • Email</a:t>
            </a:r>
          </a:p>
        </p:txBody>
      </p:sp>
      <p:sp>
        <p:nvSpPr>
          <p:cNvPr id="29" name="Chevron 28"/>
          <p:cNvSpPr/>
          <p:nvPr/>
        </p:nvSpPr>
        <p:spPr>
          <a:xfrm>
            <a:off x="9893808" y="2697480"/>
            <a:ext cx="210312" cy="384048"/>
          </a:xfrm>
          <a:prstGeom prst="chevron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131552" y="1920240"/>
            <a:ext cx="1664208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22992" y="212140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995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2578608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B2039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2992" y="3136392"/>
            <a:ext cx="1444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0">
                <a:solidFill>
                  <a:srgbClr val="5B6C81"/>
                </a:solidFill>
                <a:latin typeface="Aptos"/>
              </a:defRPr>
            </a:pPr>
            <a:r>
              <a:t>Dashboard • Mobile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86200" y="4800600"/>
            <a:ext cx="4434840" cy="329184"/>
          </a:xfrm>
          <a:prstGeom prst="round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RAW DATA → ACTION → VISIBILITY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Automation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Real project screenshots showing the flow across desktop tools and automation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440680" cy="2240280"/>
          </a:xfrm>
          <a:prstGeom prst="rect">
            <a:avLst/>
          </a:prstGeom>
        </p:spPr>
      </p:pic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440680" cy="2240280"/>
          </a:xfrm>
          <a:prstGeom prst="rect">
            <a:avLst/>
          </a:prstGeom>
        </p:spPr>
      </p:pic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94760"/>
            <a:ext cx="5440680" cy="2240280"/>
          </a:xfrm>
          <a:prstGeom prst="rect">
            <a:avLst/>
          </a:prstGeom>
        </p:spPr>
      </p:pic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794760"/>
            <a:ext cx="5440680" cy="2240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794760" y="6108192"/>
            <a:ext cx="4572000" cy="329184"/>
          </a:xfrm>
          <a:prstGeom prst="round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EMAIL → PYTHON → POWER AUTOMATE →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Outlook / Email Attachment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Automatically capture incoming lead files and organize them for processing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0080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69480" y="1417320"/>
            <a:ext cx="4251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69480" y="1417320"/>
            <a:ext cx="64008" cy="1143000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0" y="15727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Automatic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029968"/>
            <a:ext cx="38862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Identify relevant incoming attachments.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2724912"/>
            <a:ext cx="4251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69480" y="2724912"/>
            <a:ext cx="64008" cy="1143000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2880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Automatic Organization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337560"/>
            <a:ext cx="38862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Save files into the correct workflow 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4032504"/>
            <a:ext cx="4251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69480" y="4032504"/>
            <a:ext cx="64008" cy="1143000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52360" y="41879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Ready for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645152"/>
            <a:ext cx="38862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Pass files into cleaning, mapping and master-file automation.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Raw Data → Clean Master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Transform inconsistent source data into a standardized structure</a:t>
            </a:r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3246120" cy="4160520"/>
          </a:xfrm>
          <a:prstGeom prst="rect">
            <a:avLst/>
          </a:prstGeom>
        </p:spPr>
      </p:pic>
      <p:sp>
        <p:nvSpPr>
          <p:cNvPr id="6" name="Chevron 5"/>
          <p:cNvSpPr/>
          <p:nvPr/>
        </p:nvSpPr>
        <p:spPr>
          <a:xfrm>
            <a:off x="3977639" y="2788920"/>
            <a:ext cx="731520" cy="731520"/>
          </a:xfrm>
          <a:prstGeom prst="chevron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92040" y="146304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92040" y="1463040"/>
            <a:ext cx="64008" cy="1234440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74920" y="161848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07568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Clean names and mobile numbers.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88036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92040" y="2880360"/>
            <a:ext cx="64008" cy="1234440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303580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4930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Standardize project and source values.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42976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92040" y="4297680"/>
            <a:ext cx="64008" cy="1234440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44531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9103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Apply rules and duplicate checkpoints.</a:t>
            </a:r>
          </a:p>
        </p:txBody>
      </p:sp>
      <p:pic>
        <p:nvPicPr>
          <p:cNvPr id="19" name="Picture 1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417320"/>
            <a:ext cx="3566160" cy="41605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Master File &amp; CRM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Structured output becomes the controlled hand-off to CRM or other applications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9224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417320"/>
            <a:ext cx="4160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60920" y="1417320"/>
            <a:ext cx="64008" cy="1188720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5727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Standardized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29968"/>
            <a:ext cx="3794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Name • Mobile • Email • Project •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788920"/>
            <a:ext cx="4160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60920" y="2788920"/>
            <a:ext cx="64008" cy="1188720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29443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Duplicate Checkpoint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3794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Identify potential duplicates before ingestion.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160520"/>
            <a:ext cx="4160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0920" y="4160520"/>
            <a:ext cx="64008" cy="1188720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4315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CRM-Ready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773168"/>
            <a:ext cx="3794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Validated data can be pushed into the target application.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Automated Summary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Management-ready summaries without manual consolidation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9224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417320"/>
            <a:ext cx="4160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60920" y="1417320"/>
            <a:ext cx="64008" cy="1188720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5727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Project-wise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29968"/>
            <a:ext cx="3794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See lead distribution by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788920"/>
            <a:ext cx="4160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60920" y="2788920"/>
            <a:ext cx="64008" cy="1188720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29443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Source-wise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01568"/>
            <a:ext cx="3794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Compare acquisition channels.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160520"/>
            <a:ext cx="4160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0920" y="4160520"/>
            <a:ext cx="64008" cy="1188720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4315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Scheduled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773168"/>
            <a:ext cx="3794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Send summaries and outputs to the required team.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Python + Power Automate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The current workflow combines automation, orchestration and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84632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19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453895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039"/>
                </a:solidFill>
                <a:latin typeface="Aptos"/>
              </a:defRPr>
            </a:pPr>
            <a:r>
              <a:t>Python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453895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6C81"/>
                </a:solidFill>
                <a:latin typeface="Aptos"/>
              </a:defRPr>
            </a:pPr>
            <a:r>
              <a:t>Capture • Clean • Map • Create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484632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129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551176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039"/>
                </a:solidFill>
                <a:latin typeface="Aptos"/>
              </a:defRPr>
            </a:pPr>
            <a:r>
              <a:t>Power Automate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55117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6C81"/>
                </a:solidFill>
                <a:latin typeface="Aptos"/>
              </a:defRPr>
            </a:pPr>
            <a:r>
              <a:t>Orchestrate • Trigger • Notify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20439"/>
            <a:ext cx="484632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EB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648456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039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64845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6C81"/>
                </a:solidFill>
                <a:latin typeface="Aptos"/>
              </a:defRPr>
            </a:pPr>
            <a:r>
              <a:t>Analyze • Visualize • Monitor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17720"/>
            <a:ext cx="484632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0B2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745736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2039"/>
                </a:solidFill>
                <a:latin typeface="Aptos"/>
              </a:defRPr>
            </a:pPr>
            <a:r>
              <a:t>Mobile /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7457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6C81"/>
                </a:solidFill>
                <a:latin typeface="Aptos"/>
              </a:defRPr>
            </a:pPr>
            <a:r>
              <a:t>Access operational information</a:t>
            </a:r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25880"/>
            <a:ext cx="5440680" cy="45262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Eight Automation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Capabilities can work independently or as one end-to-end 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Eight Automation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Capabilities can work independently or as one end-to-end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61872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64008" cy="1965960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01  Excel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1488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Spreadsheet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261872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10712" y="1261872"/>
            <a:ext cx="64008" cy="1965960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14173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02  Outlook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874519"/>
            <a:ext cx="21488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Email attachment capture.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261872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7064" y="1261872"/>
            <a:ext cx="64008" cy="1965960"/>
          </a:xfrm>
          <a:prstGeom prst="rect">
            <a:avLst/>
          </a:prstGeom>
          <a:solidFill>
            <a:srgbClr val="20A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4173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03  Google Sheet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1874519"/>
            <a:ext cx="21488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Spreadsheet sync.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1261872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43416" y="1261872"/>
            <a:ext cx="64008" cy="1965960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26296" y="14173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04  CRM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874519"/>
            <a:ext cx="21488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Validate and push CRM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5760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657600"/>
            <a:ext cx="64008" cy="1965960"/>
          </a:xfrm>
          <a:prstGeom prst="rect">
            <a:avLst/>
          </a:prstGeom>
          <a:solidFill>
            <a:srgbClr val="0B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813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05  Hybrid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70248"/>
            <a:ext cx="21488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Combine CSV + Sheets.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0712" y="365760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10712" y="3657600"/>
            <a:ext cx="64008" cy="1965960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3592" y="3813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06  Python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4270248"/>
            <a:ext cx="21488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Custom rule-based workflows.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365760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27064" y="3657600"/>
            <a:ext cx="64008" cy="1965960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9944" y="3813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07  Power BI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270248"/>
            <a:ext cx="21488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Management analytics.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3416" y="365760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43416" y="3657600"/>
            <a:ext cx="64008" cy="1965960"/>
          </a:xfrm>
          <a:prstGeom prst="rect">
            <a:avLst/>
          </a:prstGeom>
          <a:solidFill>
            <a:srgbClr val="20A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26296" y="3813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08  Master File → CRM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4270248"/>
            <a:ext cx="21488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Duplicate checks + upload tracking.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Dashboard &amp; Mobile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Move from desktop processing toward anywhere-access operational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4297680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27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• Total / today leads</a:t>
            </a:r>
            <a:br/>
            <a:r>
              <a:t>• Project-wise counts</a:t>
            </a:r>
            <a:br/>
            <a:r>
              <a:t>• Source-wise counts</a:t>
            </a:r>
            <a:br/>
            <a:r>
              <a:t>• Trends and summaries</a:t>
            </a:r>
            <a:br/>
            <a:r>
              <a:t>• Management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716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371600"/>
            <a:ext cx="64008" cy="4297680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27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• Lead visibility</a:t>
            </a:r>
            <a:br/>
            <a:r>
              <a:t>• Automation</a:t>
            </a:r>
            <a:br/>
            <a:r>
              <a:t>• Reports</a:t>
            </a:r>
            <a:br/>
            <a:r>
              <a:t>• Settings</a:t>
            </a:r>
            <a:br/>
            <a:r>
              <a:t>• API-driven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3716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71600"/>
            <a:ext cx="64008" cy="4297680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5" y="1527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Global SaaS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198424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• Multi-user</a:t>
            </a:r>
            <a:br/>
            <a:r>
              <a:t>• Multi-tenant</a:t>
            </a:r>
            <a:br/>
            <a:r>
              <a:t>• Customer configuration</a:t>
            </a:r>
            <a:br/>
            <a:r>
              <a:t>• Cloud deployment</a:t>
            </a:r>
            <a:br/>
            <a:r>
              <a:t>• Secure integrations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Cloud / SaaS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Target architecture for a global multi-user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14884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19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039"/>
                </a:solidFill>
                <a:latin typeface="Aptos"/>
              </a:defRPr>
            </a:pPr>
            <a:r>
              <a:t>Web / Flutter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214884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129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039"/>
                </a:solidFill>
                <a:latin typeface="Aptos"/>
              </a:defRPr>
            </a:pPr>
            <a:r>
              <a:t>HTTPS /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00200"/>
            <a:ext cx="214884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0B2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039"/>
                </a:solidFill>
                <a:latin typeface="Aptos"/>
              </a:defRPr>
            </a:pPr>
            <a:r>
              <a:t>Yukti-Ai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880360"/>
            <a:ext cx="214884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19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039"/>
                </a:solidFill>
                <a:latin typeface="Aptos"/>
              </a:defRPr>
            </a:pPr>
            <a:r>
              <a:t>Automation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00200"/>
            <a:ext cx="214884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EB8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039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880360"/>
            <a:ext cx="214884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129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039"/>
                </a:solidFill>
                <a:latin typeface="Aptos"/>
              </a:defRPr>
            </a:pPr>
            <a:r>
              <a:t>Secure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240280"/>
            <a:ext cx="2148840" cy="822960"/>
          </a:xfrm>
          <a:prstGeom prst="roundRect">
            <a:avLst/>
          </a:prstGeom>
          <a:solidFill>
            <a:srgbClr val="F4F7FB"/>
          </a:solidFill>
          <a:ln>
            <a:solidFill>
              <a:srgbClr val="299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039"/>
                </a:solidFill>
                <a:latin typeface="Aptos"/>
              </a:defRPr>
            </a:pPr>
            <a:r>
              <a:t>Customer CRM /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" y="1691640"/>
            <a:ext cx="411480" cy="320040"/>
          </a:xfrm>
          <a:prstGeom prst="line">
            <a:avLst/>
          </a:prstGeom>
          <a:ln w="254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80360" y="2834640"/>
            <a:ext cx="411480" cy="457200"/>
          </a:xfrm>
          <a:prstGeom prst="line">
            <a:avLst/>
          </a:prstGeom>
          <a:ln w="254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40680" y="2011680"/>
            <a:ext cx="594360" cy="0"/>
          </a:xfrm>
          <a:prstGeom prst="line">
            <a:avLst/>
          </a:prstGeom>
          <a:ln w="254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40680" y="3291840"/>
            <a:ext cx="594360" cy="0"/>
          </a:xfrm>
          <a:prstGeom prst="line">
            <a:avLst/>
          </a:prstGeom>
          <a:ln w="254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83879" y="2194560"/>
            <a:ext cx="594361" cy="411480"/>
          </a:xfrm>
          <a:prstGeom prst="line">
            <a:avLst/>
          </a:prstGeom>
          <a:ln w="25400">
            <a:solidFill>
              <a:srgbClr val="D7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4663440"/>
            <a:ext cx="5669280" cy="329184"/>
          </a:xfrm>
          <a:prstGeom prst="round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CUSTOMER SYSTEMS CAN REMAIN ON-PREMISE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Enterprise Security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Foundational requirements for a scalable multi-tenant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Tenant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3852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Separate each customer's data and configuration.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1874519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4813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Role-Based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3852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Give users only the permissions they require.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3" y="14813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Secure 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3852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Protect CRM/API credentials.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874519"/>
          </a:xfrm>
          <a:prstGeom prst="rect">
            <a:avLst/>
          </a:prstGeom>
          <a:solidFill>
            <a:srgbClr val="20A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813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Audit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7024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Track automation actions and events.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3657600"/>
            <a:ext cx="64008" cy="1874519"/>
          </a:xfrm>
          <a:prstGeom prst="rect">
            <a:avLst/>
          </a:prstGeom>
          <a:solidFill>
            <a:srgbClr val="0B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3712" y="3813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HTTPS / TLS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27024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Protect API and application traffic.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01583" y="3657600"/>
            <a:ext cx="64008" cy="1874519"/>
          </a:xfrm>
          <a:prstGeom prst="rect">
            <a:avLst/>
          </a:prstGeom>
          <a:solidFill>
            <a:srgbClr val="299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3" y="3813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Customer-Controlled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427024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Customer CRM/ERP can remain under customer ownership.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2039"/>
                </a:solidFill>
                <a:latin typeface="Aptos Display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1381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5B6C81"/>
                </a:solidFill>
                <a:latin typeface="Aptos"/>
              </a:defRPr>
            </a:pPr>
            <a:r>
              <a:t>The objective is to turn repetitive operational work into a repeatable digital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299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Less Manual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3852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Reduce repetitive downloading, copying and consolidation.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1874519"/>
          </a:xfrm>
          <a:prstGeom prst="rect">
            <a:avLst/>
          </a:prstGeom>
          <a:solidFill>
            <a:srgbClr val="19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4813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Better 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3852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Apply consistent validation and mapping.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64008" cy="1874519"/>
          </a:xfrm>
          <a:prstGeom prst="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3" y="14813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Faster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3852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Make structured leads available earlier.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874519"/>
          </a:xfrm>
          <a:prstGeom prst="rect">
            <a:avLst/>
          </a:prstGeom>
          <a:solidFill>
            <a:srgbClr val="20A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813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Better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7024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Project/source reporting without manual consolidation.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3657600"/>
            <a:ext cx="64008" cy="1874519"/>
          </a:xfrm>
          <a:prstGeom prst="rect">
            <a:avLst/>
          </a:prstGeom>
          <a:solidFill>
            <a:srgbClr val="E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3712" y="3813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Scalable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27024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Handle more workflows without proportional manual effort.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65760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01583" y="3657600"/>
            <a:ext cx="64008" cy="1874519"/>
          </a:xfrm>
          <a:prstGeom prst="rect">
            <a:avLst/>
          </a:prstGeom>
          <a:solidFill>
            <a:srgbClr val="0B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3" y="3813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B2039"/>
                </a:solidFill>
                <a:latin typeface="Aptos"/>
              </a:defRPr>
            </a:pPr>
            <a:r>
              <a:t>Productive Employees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4270248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5B6C81"/>
                </a:solidFill>
                <a:latin typeface="Aptos"/>
              </a:defRPr>
            </a:pPr>
            <a:r>
              <a:t>Shift time from data entry to calling and follow-up.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Automate the Work.</a:t>
            </a:r>
            <a:br/>
            <a:r>
              <a:t>Scale the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0A6DB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5643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CDDBEE"/>
                </a:solidFill>
                <a:latin typeface="Aptos"/>
              </a:defRPr>
            </a:pPr>
            <a:r>
              <a:t>Business Automation • CRM Integration • Data Standardization • Analytics •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72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C3E1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892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Vipul Shah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321808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DDBEE"/>
                </a:solidFill>
                <a:latin typeface="Aptos"/>
              </a:defRPr>
            </a:pPr>
            <a:r>
              <a:rPr dirty="0"/>
              <a:t>9316072612  •  </a:t>
            </a:r>
            <a:r>
              <a:rPr lang="en-GB" dirty="0" err="1" smtClean="0"/>
              <a:t>yuktiaisales</a:t>
            </a:r>
            <a:r>
              <a:rPr dirty="0" smtClean="0"/>
              <a:t>@gmail.com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229600" y="4828032"/>
            <a:ext cx="2240280" cy="329184"/>
          </a:xfrm>
          <a:prstGeom prst="roundRect">
            <a:avLst/>
          </a:prstGeom>
          <a:solidFill>
            <a:srgbClr val="12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LET'S AUTOMATE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1">
                <a:solidFill>
                  <a:srgbClr val="5B6C81"/>
                </a:solidFill>
                <a:latin typeface="Aptos"/>
              </a:defRPr>
            </a:pPr>
            <a:r>
              <a:t>YUKTI-AI BUSINESS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50138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B6C81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889</Words>
  <Application>Microsoft Office PowerPoint</Application>
  <PresentationFormat>Widescreen</PresentationFormat>
  <Paragraphs>201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Vipul Shah</cp:lastModifiedBy>
  <cp:revision>2</cp:revision>
  <dcterms:created xsi:type="dcterms:W3CDTF">2013-01-27T09:14:16Z</dcterms:created>
  <dcterms:modified xsi:type="dcterms:W3CDTF">2026-09-21T13:22:08Z</dcterms:modified>
  <cp:category/>
</cp:coreProperties>
</file>