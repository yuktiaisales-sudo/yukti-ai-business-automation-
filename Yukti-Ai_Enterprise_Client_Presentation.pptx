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YUKTI-AI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95527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t>Business Automation</a:t>
            </a:r>
            <a:br/>
            <a: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15468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7D6FF"/>
                </a:solidFill>
                <a:latin typeface="Aptos"/>
              </a:defRPr>
            </a:pPr>
            <a:r>
              <a:t>Automate. Integrate. Standardize.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886200"/>
            <a:ext cx="1645920" cy="347472"/>
          </a:xfrm>
          <a:prstGeom prst="roundRect">
            <a:avLst/>
          </a:prstGeom>
          <a:solidFill>
            <a:srgbClr val="14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ENTERPRISE 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3886200"/>
            <a:ext cx="1325880" cy="347472"/>
          </a:xfrm>
          <a:prstGeom prst="roundRect">
            <a:avLst/>
          </a:prstGeom>
          <a:solidFill>
            <a:srgbClr val="1F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API ENABLED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5072" y="3886200"/>
            <a:ext cx="1508760" cy="347472"/>
          </a:xfrm>
          <a:prstGeom prst="roundRect">
            <a:avLst/>
          </a:prstGeom>
          <a:solidFill>
            <a:srgbClr val="27A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CLOUD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7548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D7E1F0"/>
                </a:solidFill>
                <a:latin typeface="Aptos"/>
              </a:defRPr>
            </a:pPr>
            <a:r>
              <a:t>A unified platform for lead ingestion, data automation, CRM integration, reporting and mobile visibility.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9893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Yukti-Ai Business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1C34"/>
                </a:solidFill>
                <a:latin typeface="Aptos"/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637387"/>
                </a:solidFill>
                <a:latin typeface="Aptos"/>
              </a:defRPr>
            </a:pPr>
            <a:r>
              <a:t>From manual operations to controlled, repeatable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874519"/>
          </a:xfrm>
          <a:prstGeom prst="rect">
            <a:avLst/>
          </a:prstGeom>
          <a:solidFill>
            <a:srgbClr val="1F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819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306324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Email attachments, CSV files, Google Sheets, APIs and other 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417320"/>
            <a:ext cx="64008" cy="1874519"/>
          </a:xfrm>
          <a:prstGeom prst="rect">
            <a:avLst/>
          </a:prstGeom>
          <a:solidFill>
            <a:srgbClr val="14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819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Clean &amp; Standardize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39112"/>
            <a:ext cx="306324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Normalize names, mobile numbers, projects, sources and business fields.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4173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417320"/>
            <a:ext cx="64008" cy="1874519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3" y="15819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Connect &amp;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2039112"/>
            <a:ext cx="306324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Push validated data into CRM/application systems and trigger downstream 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03320"/>
            <a:ext cx="53492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03320"/>
            <a:ext cx="64008" cy="1737360"/>
          </a:xfrm>
          <a:prstGeom prst="rect">
            <a:avLst/>
          </a:prstGeom>
          <a:solidFill>
            <a:srgbClr val="27A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67911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Business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325112"/>
            <a:ext cx="4983479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Dashboards and summaries provide project-wise, source-wise and operational visibility.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703320"/>
            <a:ext cx="533095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703320"/>
            <a:ext cx="64008" cy="1737360"/>
          </a:xfrm>
          <a:prstGeom prst="rect">
            <a:avLst/>
          </a:prstGeom>
          <a:solidFill>
            <a:srgbClr val="1F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867911"/>
            <a:ext cx="5010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Mobile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325112"/>
            <a:ext cx="4965192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API-driven mobile access to operational information and automation capabilities.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37387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55624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37387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1C34"/>
                </a:solidFill>
                <a:latin typeface="Aptos"/>
              </a:defRPr>
            </a:pPr>
            <a:r>
              <a:t>The Operational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637387"/>
                </a:solidFill>
                <a:latin typeface="Aptos"/>
              </a:defRPr>
            </a:pPr>
            <a:r>
              <a:t>Manual lead and data handling creates avoidable effort, delay and inconsistency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874519"/>
          </a:xfrm>
          <a:prstGeom prst="rect">
            <a:avLst/>
          </a:prstGeom>
          <a:solidFill>
            <a:srgbClr val="CE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Fragmented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CRM, CSV, email, spreadsheets and vendors.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325880"/>
            <a:ext cx="64008" cy="1874519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Manual Reconciliation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4767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Download, merge, clean, map and validate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325880"/>
            <a:ext cx="64008" cy="1874519"/>
          </a:xfrm>
          <a:prstGeom prst="rect">
            <a:avLst/>
          </a:prstGeom>
          <a:solidFill>
            <a:srgbClr val="1F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3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194767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Raw names, phone numbers, projects and sources.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64008" cy="1874519"/>
          </a:xfrm>
          <a:prstGeom prst="rect">
            <a:avLst/>
          </a:prstGeom>
          <a:solidFill>
            <a:srgbClr val="14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2219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Delayed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7939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Reports depend on manual preparation.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3657600"/>
            <a:ext cx="64008" cy="1874519"/>
          </a:xfrm>
          <a:prstGeom prst="rect">
            <a:avLst/>
          </a:prstGeom>
          <a:solidFill>
            <a:srgbClr val="CE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82219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Duplicate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27939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Repeated leads create unnecessary effort.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1583" y="3657600"/>
            <a:ext cx="64008" cy="1874519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3" y="382219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Non-productive Hours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427939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Employees spend time on data entry instead of follow-up.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37387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55624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37387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1C34"/>
                </a:solidFill>
                <a:latin typeface="Aptos"/>
              </a:defRPr>
            </a:pPr>
            <a:r>
              <a:t>Yukti-Ai Automation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637387"/>
                </a:solidFill>
                <a:latin typeface="Aptos"/>
              </a:defRPr>
            </a:pPr>
            <a:r>
              <a:t>One controlled pipeline from incoming data to CRM-ready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965960" cy="20116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68D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C1C34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19" b="0">
                <a:solidFill>
                  <a:srgbClr val="637387"/>
                </a:solidFill>
                <a:latin typeface="Aptos"/>
              </a:defRPr>
            </a:pPr>
            <a:r>
              <a:t>Email • CSV • Sheets •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828800"/>
            <a:ext cx="1965960" cy="20116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214884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9D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260604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C1C34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31089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19" b="0">
                <a:solidFill>
                  <a:srgbClr val="637387"/>
                </a:solidFill>
                <a:latin typeface="Aptos"/>
              </a:defRPr>
            </a:pPr>
            <a:r>
              <a:t>Rules • Duplicate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9784" y="1828800"/>
            <a:ext cx="1965960" cy="20116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214884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7AEE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260604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C1C34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1089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19" b="0">
                <a:solidFill>
                  <a:srgbClr val="637387"/>
                </a:solidFill>
                <a:latin typeface="Aptos"/>
              </a:defRPr>
            </a:pPr>
            <a:r>
              <a:t>Clean • Map • Normalize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828800"/>
            <a:ext cx="1965960" cy="20116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214884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B8F2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60604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C1C34"/>
                </a:solidFill>
                <a:latin typeface="Aptos"/>
              </a:defRPr>
            </a:pPr>
            <a:r>
              <a:t>Deliver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936" y="31089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19" b="0">
                <a:solidFill>
                  <a:srgbClr val="637387"/>
                </a:solidFill>
                <a:latin typeface="Aptos"/>
              </a:defRPr>
            </a:pPr>
            <a:r>
              <a:t>CRM • Master file • Email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65208" y="1828800"/>
            <a:ext cx="1965960" cy="20116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6648" y="214884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C1C3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60604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C1C34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648" y="310896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19" b="0">
                <a:solidFill>
                  <a:srgbClr val="637387"/>
                </a:solidFill>
                <a:latin typeface="Aptos"/>
              </a:defRPr>
            </a:pPr>
            <a:r>
              <a:t>Dashboard • Summary • Mobile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4754880"/>
            <a:ext cx="3840480" cy="347472"/>
          </a:xfrm>
          <a:prstGeom prst="roundRect">
            <a:avLst/>
          </a:prstGeom>
          <a:solidFill>
            <a:srgbClr val="14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LESS MANUAL WORK • MORE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37387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55624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37387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1C34"/>
                </a:solidFill>
                <a:latin typeface="Aptos"/>
              </a:defRPr>
            </a:pPr>
            <a:r>
              <a:t>Automation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637387"/>
                </a:solidFill>
                <a:latin typeface="Aptos"/>
              </a:defRPr>
            </a:pPr>
            <a:r>
              <a:t>Modular capabilities that can be deployed individually or combined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251460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44751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1F68D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1051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0C1C34"/>
                </a:solidFill>
                <a:latin typeface="Aptos"/>
              </a:defRPr>
            </a:pPr>
            <a:r>
              <a:t>Excel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13432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30" b="0">
                <a:solidFill>
                  <a:srgbClr val="637387"/>
                </a:solidFill>
                <a:latin typeface="Aptos"/>
              </a:defRPr>
            </a:pPr>
            <a:r>
              <a:t>Repetitive Excel processing, validation and structured output.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280160"/>
            <a:ext cx="251460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1444751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149D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181051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0C1C34"/>
                </a:solidFill>
                <a:latin typeface="Aptos"/>
              </a:defRPr>
            </a:pPr>
            <a:r>
              <a:t>Outlook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313432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30" b="0">
                <a:solidFill>
                  <a:srgbClr val="637387"/>
                </a:solidFill>
                <a:latin typeface="Aptos"/>
              </a:defRPr>
            </a:pPr>
            <a:r>
              <a:t>Capture email attachments and organize controlled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280160"/>
            <a:ext cx="251460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444751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7AEE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181051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0C1C34"/>
                </a:solidFill>
                <a:latin typeface="Aptos"/>
              </a:defRPr>
            </a:pPr>
            <a:r>
              <a:t>Google Sheet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313432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30" b="0">
                <a:solidFill>
                  <a:srgbClr val="637387"/>
                </a:solidFill>
                <a:latin typeface="Aptos"/>
              </a:defRPr>
            </a:pPr>
            <a:r>
              <a:t>Sync and process new spreadsheet records on conditions.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1280160"/>
            <a:ext cx="251460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8" y="1444751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EB8F2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181051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0C1C34"/>
                </a:solidFill>
                <a:latin typeface="Aptos"/>
              </a:defRPr>
            </a:pPr>
            <a:r>
              <a:t>CRM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2313432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30" b="0">
                <a:solidFill>
                  <a:srgbClr val="637387"/>
                </a:solidFill>
                <a:latin typeface="Aptos"/>
              </a:defRPr>
            </a:pPr>
            <a:r>
              <a:t>Validate, map and push structured data into CRM.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03320"/>
            <a:ext cx="251460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867911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C1C3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23367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0C1C34"/>
                </a:solidFill>
                <a:latin typeface="Aptos"/>
              </a:defRPr>
            </a:pPr>
            <a:r>
              <a:t>Hybrid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736592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30" b="0">
                <a:solidFill>
                  <a:srgbClr val="637387"/>
                </a:solidFill>
                <a:latin typeface="Aptos"/>
              </a:defRPr>
            </a:pPr>
            <a:r>
              <a:t>Combine email CSVs and Google Sheets.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0712" y="3703320"/>
            <a:ext cx="251460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75304" y="3867911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1F68D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5304" y="423367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0C1C34"/>
                </a:solidFill>
                <a:latin typeface="Aptos"/>
              </a:defRPr>
            </a:pPr>
            <a:r>
              <a:t>Python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304" y="4736592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30" b="0">
                <a:solidFill>
                  <a:srgbClr val="637387"/>
                </a:solidFill>
                <a:latin typeface="Aptos"/>
              </a:defRPr>
            </a:pPr>
            <a:r>
              <a:t>Custom rule-based business workflows.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7064" y="3703320"/>
            <a:ext cx="251460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1656" y="3867911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149D9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423367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0C1C34"/>
                </a:solidFill>
                <a:latin typeface="Aptos"/>
              </a:defRPr>
            </a:pPr>
            <a:r>
              <a:t>Power BI &amp; Reporting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4736592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30" b="0">
                <a:solidFill>
                  <a:srgbClr val="637387"/>
                </a:solidFill>
                <a:latin typeface="Aptos"/>
              </a:defRPr>
            </a:pPr>
            <a:r>
              <a:t>Management summaries and dashboards.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43416" y="3703320"/>
            <a:ext cx="251460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8008" y="3867911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7AEE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8008" y="423367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1">
                <a:solidFill>
                  <a:srgbClr val="0C1C34"/>
                </a:solidFill>
                <a:latin typeface="Aptos"/>
              </a:defRPr>
            </a:pPr>
            <a:r>
              <a:t>Master File → CRM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8" y="4736592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30" b="0">
                <a:solidFill>
                  <a:srgbClr val="637387"/>
                </a:solidFill>
                <a:latin typeface="Aptos"/>
              </a:defRPr>
            </a:pPr>
            <a:r>
              <a:t>Duplicate checks, mapping and upload status.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37387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5624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37387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1C34"/>
                </a:solidFill>
                <a:latin typeface="Aptos"/>
              </a:defRPr>
            </a:pPr>
            <a:r>
              <a:t>Lead Ingestion &amp; Master Data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637387"/>
                </a:solidFill>
                <a:latin typeface="Aptos"/>
              </a:defRPr>
            </a:pPr>
            <a:r>
              <a:t>Turn raw lead files into structured, CRM-ready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64008" cy="3291840"/>
          </a:xfrm>
          <a:prstGeom prst="rect">
            <a:avLst/>
          </a:prstGeom>
          <a:solidFill>
            <a:srgbClr val="1F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Input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2971800" cy="2542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• Outlook email attachments</a:t>
            </a:r>
            <a:br/>
            <a:r>
              <a:t>• CSV files</a:t>
            </a:r>
            <a:br/>
            <a:r>
              <a:t>• Google Sheets</a:t>
            </a:r>
            <a:br/>
            <a:r>
              <a:t>• API / CRM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463040"/>
            <a:ext cx="33375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1463040"/>
            <a:ext cx="64008" cy="3291840"/>
          </a:xfrm>
          <a:prstGeom prst="rect">
            <a:avLst/>
          </a:prstGeom>
          <a:solidFill>
            <a:srgbClr val="14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62763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Data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084832"/>
            <a:ext cx="2971800" cy="2542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• Name normalization</a:t>
            </a:r>
            <a:br/>
            <a:r>
              <a:t>• Mobile cleaning</a:t>
            </a:r>
            <a:br/>
            <a:r>
              <a:t>• Project/source mapping</a:t>
            </a:r>
            <a:br/>
            <a:r>
              <a:t>• Duplicate checkpoints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463040"/>
            <a:ext cx="33375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463040"/>
            <a:ext cx="64008" cy="3291840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3" y="162763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2084832"/>
            <a:ext cx="2971800" cy="2542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• Master file</a:t>
            </a:r>
            <a:br/>
            <a:r>
              <a:t>• CRM-ready data</a:t>
            </a:r>
            <a:br/>
            <a:r>
              <a:t>• Project/source summaries</a:t>
            </a:r>
            <a:br/>
            <a:r>
              <a:t>• Automated notification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C1C34"/>
                </a:solidFill>
                <a:latin typeface="Aptos"/>
              </a:defRPr>
            </a:pPr>
            <a:r>
              <a:t>Result: a consistent data layer before CRM ingestion, reporting or sales assignment.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37387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5624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37387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1C34"/>
                </a:solidFill>
                <a:latin typeface="Aptos"/>
              </a:defRPr>
            </a:pPr>
            <a:r>
              <a:t>Data Quality &amp; Standardization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637387"/>
                </a:solidFill>
                <a:latin typeface="Aptos"/>
              </a:defRPr>
            </a:pPr>
            <a:r>
              <a:t>Repeatable rules make downstream CRM and reporting more reliable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874519"/>
          </a:xfrm>
          <a:prstGeom prst="rect">
            <a:avLst/>
          </a:prstGeom>
          <a:solidFill>
            <a:srgbClr val="1F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Names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Clean and standardize raw or combined names.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325880"/>
            <a:ext cx="64008" cy="1874519"/>
          </a:xfrm>
          <a:prstGeom prst="rect">
            <a:avLst/>
          </a:prstGeom>
          <a:solidFill>
            <a:srgbClr val="14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Mobile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4767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Normalize inconsistent phone formats.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325880"/>
            <a:ext cx="64008" cy="1874519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3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194767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Map identifiers to standardized project names.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64008" cy="1874519"/>
          </a:xfrm>
          <a:prstGeom prst="rect">
            <a:avLst/>
          </a:prstGeom>
          <a:solidFill>
            <a:srgbClr val="27A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2219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7939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Normalize marketing and acquisition sources.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3657600"/>
            <a:ext cx="64008" cy="1874519"/>
          </a:xfrm>
          <a:prstGeom prst="rect">
            <a:avLst/>
          </a:prstGeom>
          <a:solidFill>
            <a:srgbClr val="0C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82219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27939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Provide checkpoints before ingestion.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1583" y="3657600"/>
            <a:ext cx="64008" cy="1874519"/>
          </a:xfrm>
          <a:prstGeom prst="rect">
            <a:avLst/>
          </a:prstGeom>
          <a:solidFill>
            <a:srgbClr val="CE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3" y="382219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Auditability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427939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Clear outputs and summaries for review.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37387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55624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37387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1C34"/>
                </a:solidFill>
                <a:latin typeface="Aptos"/>
              </a:defRPr>
            </a:pPr>
            <a:r>
              <a:t>Dashboard &amp; Mobile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637387"/>
                </a:solidFill>
                <a:latin typeface="Aptos"/>
              </a:defRPr>
            </a:pPr>
            <a:r>
              <a:t>Bring operational information closer to management and teams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3756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4160520"/>
          </a:xfrm>
          <a:prstGeom prst="rect">
            <a:avLst/>
          </a:prstGeom>
          <a:solidFill>
            <a:srgbClr val="1F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81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Management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2971800" cy="3410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• Total leads</a:t>
            </a:r>
            <a:br/>
            <a:r>
              <a:t>• Today / period trends</a:t>
            </a:r>
            <a:br/>
            <a:r>
              <a:t>• Project-wise counts</a:t>
            </a:r>
            <a:br/>
            <a:r>
              <a:t>• Source-wise counts</a:t>
            </a:r>
            <a:br/>
            <a:r>
              <a:t>• Operational summaries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417320"/>
            <a:ext cx="333756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1417320"/>
            <a:ext cx="64008" cy="4160520"/>
          </a:xfrm>
          <a:prstGeom prst="rect">
            <a:avLst/>
          </a:prstGeom>
          <a:solidFill>
            <a:srgbClr val="14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81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Mobile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039112"/>
            <a:ext cx="2971800" cy="3410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• Lead visibility</a:t>
            </a:r>
            <a:br/>
            <a:r>
              <a:t>• Automation area</a:t>
            </a:r>
            <a:br/>
            <a:r>
              <a:t>• Reports area</a:t>
            </a:r>
            <a:br/>
            <a:r>
              <a:t>• Settings / configuration</a:t>
            </a:r>
            <a:br/>
            <a:r>
              <a:t>• API-driven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1417320"/>
            <a:ext cx="333756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3024" y="1417320"/>
            <a:ext cx="64008" cy="4160520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581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SaaS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039112"/>
            <a:ext cx="2971800" cy="3410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• Multi-user access</a:t>
            </a:r>
            <a:br/>
            <a:r>
              <a:t>• Tenant isolation</a:t>
            </a:r>
            <a:br/>
            <a:r>
              <a:t>• Customer configuration</a:t>
            </a:r>
            <a:br/>
            <a:r>
              <a:t>• Cloud deployment</a:t>
            </a:r>
            <a:br/>
            <a:r>
              <a:t>• Secure integrations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37387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55624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37387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1C34"/>
                </a:solidFill>
                <a:latin typeface="Aptos"/>
              </a:defRPr>
            </a:pPr>
            <a:r>
              <a:t>Integration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637387"/>
                </a:solidFill>
                <a:latin typeface="Aptos"/>
              </a:defRPr>
            </a:pPr>
            <a:r>
              <a:t>Designed to work with the tools businesses already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64008" cy="1600200"/>
          </a:xfrm>
          <a:prstGeom prst="rect">
            <a:avLst/>
          </a:prstGeom>
          <a:solidFill>
            <a:srgbClr val="1F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214884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Outlook / business 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3716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0712" y="1371600"/>
            <a:ext cx="64008" cy="1600200"/>
          </a:xfrm>
          <a:prstGeom prst="rect">
            <a:avLst/>
          </a:prstGeom>
          <a:solidFill>
            <a:srgbClr val="14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536192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Spreadsheets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993392"/>
            <a:ext cx="214884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Excel / Google Sheets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3716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1371600"/>
            <a:ext cx="64008" cy="1600200"/>
          </a:xfrm>
          <a:prstGeom prst="rect">
            <a:avLst/>
          </a:prstGeom>
          <a:solidFill>
            <a:srgbClr val="27A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536192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CRM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1993392"/>
            <a:ext cx="214884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CRM APIs and application endpoints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13716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3416" y="1371600"/>
            <a:ext cx="64008" cy="1600200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536192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1993392"/>
            <a:ext cx="214884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Python / workflow services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4290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429000"/>
            <a:ext cx="64008" cy="1600200"/>
          </a:xfrm>
          <a:prstGeom prst="rect">
            <a:avLst/>
          </a:prstGeom>
          <a:solidFill>
            <a:srgbClr val="0C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93592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50791"/>
            <a:ext cx="214884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Power BI / reporting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0712" y="34290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10712" y="3429000"/>
            <a:ext cx="64008" cy="1600200"/>
          </a:xfrm>
          <a:prstGeom prst="rect">
            <a:avLst/>
          </a:prstGeom>
          <a:solidFill>
            <a:srgbClr val="1F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3592" y="3593592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Mobile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3592" y="4050791"/>
            <a:ext cx="214884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Flutter mobile application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7064" y="34290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7064" y="3429000"/>
            <a:ext cx="64008" cy="1600200"/>
          </a:xfrm>
          <a:prstGeom prst="rect">
            <a:avLst/>
          </a:prstGeom>
          <a:solidFill>
            <a:srgbClr val="14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3593592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Cloud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4050791"/>
            <a:ext cx="214884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AWS / Azure-ready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43416" y="34290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43416" y="3429000"/>
            <a:ext cx="64008" cy="1600200"/>
          </a:xfrm>
          <a:prstGeom prst="rect">
            <a:avLst/>
          </a:prstGeom>
          <a:solidFill>
            <a:srgbClr val="27A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26296" y="3593592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APIs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4050791"/>
            <a:ext cx="214884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REST integrations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37387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5624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37387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1C34"/>
                </a:solidFill>
                <a:latin typeface="Aptos"/>
              </a:defRPr>
            </a:pPr>
            <a:r>
              <a:t>Cloud &amp; SaaS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637387"/>
                </a:solidFill>
                <a:latin typeface="Aptos"/>
              </a:defRPr>
            </a:pPr>
            <a:r>
              <a:t>Roadmap toward secure multi-user, multi-tenant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325880"/>
            <a:ext cx="10058400" cy="658368"/>
          </a:xfrm>
          <a:prstGeom prst="roundRect">
            <a:avLst/>
          </a:prstGeom>
          <a:solidFill>
            <a:srgbClr val="1E304C"/>
          </a:solidFill>
          <a:ln>
            <a:solidFill>
              <a:srgbClr val="27A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Web / Mobile  —  Customer-facing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221991"/>
            <a:ext cx="10058400" cy="658368"/>
          </a:xfrm>
          <a:prstGeom prst="roundRect">
            <a:avLst/>
          </a:prstGeom>
          <a:solidFill>
            <a:srgbClr val="1E304C"/>
          </a:solidFill>
          <a:ln>
            <a:solidFill>
              <a:srgbClr val="1F6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API Layer  —  Authentication • business APIs • permissions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118104"/>
            <a:ext cx="10058400" cy="658368"/>
          </a:xfrm>
          <a:prstGeom prst="roundRect">
            <a:avLst/>
          </a:prstGeom>
          <a:solidFill>
            <a:srgbClr val="1E304C"/>
          </a:solidFill>
          <a:ln>
            <a:solidFill>
              <a:srgbClr val="14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Automation Engine  —  Python workflows • integrations • jobs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014215"/>
            <a:ext cx="10058400" cy="658368"/>
          </a:xfrm>
          <a:prstGeom prst="roundRect">
            <a:avLst/>
          </a:prstGeom>
          <a:solidFill>
            <a:srgbClr val="1E304C"/>
          </a:solidFill>
          <a:ln>
            <a:solidFill>
              <a:srgbClr val="EB8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Data Layer  —  Tenant-aware database • secure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910328"/>
            <a:ext cx="10058400" cy="658368"/>
          </a:xfrm>
          <a:prstGeom prst="roundRect">
            <a:avLst/>
          </a:prstGeom>
          <a:solidFill>
            <a:srgbClr val="1E304C"/>
          </a:solidFill>
          <a:ln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Customer Systems  —  CRM • ERP • email • APIs • on-premise connectors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37387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5624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37387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1C34"/>
                </a:solidFill>
                <a:latin typeface="Aptos"/>
              </a:defRPr>
            </a:pPr>
            <a:r>
              <a:t>Enterprise Security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637387"/>
                </a:solidFill>
                <a:latin typeface="Aptos"/>
              </a:defRPr>
            </a:pPr>
            <a:r>
              <a:t>Security principles for a scalable automation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874519"/>
          </a:xfrm>
          <a:prstGeom prst="rect">
            <a:avLst/>
          </a:prstGeom>
          <a:solidFill>
            <a:srgbClr val="1F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Tenant Isolation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Customer data and configuration are logically separated.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325880"/>
            <a:ext cx="64008" cy="1874519"/>
          </a:xfrm>
          <a:prstGeom prst="rect">
            <a:avLst/>
          </a:prstGeom>
          <a:solidFill>
            <a:srgbClr val="14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Role-Based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4767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Users receive only the permissions required.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325880"/>
            <a:ext cx="64008" cy="1874519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3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Secure Credentials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194767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CRM/API credentials are protected.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64008" cy="1874519"/>
          </a:xfrm>
          <a:prstGeom prst="rect">
            <a:avLst/>
          </a:prstGeom>
          <a:solidFill>
            <a:srgbClr val="27A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2219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Audit &amp; 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7939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Automation actions and events can be tracked.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3657600"/>
            <a:ext cx="64008" cy="1874519"/>
          </a:xfrm>
          <a:prstGeom prst="rect">
            <a:avLst/>
          </a:prstGeom>
          <a:solidFill>
            <a:srgbClr val="0C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82219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Encrypted Transport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27939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HTTPS/TLS for application and API communication.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1583" y="3657600"/>
            <a:ext cx="64008" cy="1874519"/>
          </a:xfrm>
          <a:prstGeom prst="rect">
            <a:avLst/>
          </a:prstGeom>
          <a:solidFill>
            <a:srgbClr val="CE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3" y="382219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Controlled Integrations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427939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Customer systems remain under customer control.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37387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55624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37387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1C34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637387"/>
                </a:solidFill>
                <a:latin typeface="Aptos"/>
              </a:defRPr>
            </a:pPr>
            <a:r>
              <a:t>Automation is about increasing operational capacity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874519"/>
          </a:xfrm>
          <a:prstGeom prst="rect">
            <a:avLst/>
          </a:prstGeom>
          <a:solidFill>
            <a:srgbClr val="279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Reduce Manual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Replace repetitive downloading, copying, cleaning and consolidation.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325880"/>
            <a:ext cx="64008" cy="1874519"/>
          </a:xfrm>
          <a:prstGeom prst="rect">
            <a:avLst/>
          </a:prstGeom>
          <a:solidFill>
            <a:srgbClr val="1F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Improve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4767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Apply repeatable rules instead of inconsistent manual processing.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325880"/>
            <a:ext cx="64008" cy="1874519"/>
          </a:xfrm>
          <a:prstGeom prst="rect">
            <a:avLst/>
          </a:prstGeom>
          <a:solidFill>
            <a:srgbClr val="14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3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Faster Lead Availability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194767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Make structured lead data available earlier for follow-up.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64008" cy="1874519"/>
          </a:xfrm>
          <a:prstGeom prst="rect">
            <a:avLst/>
          </a:prstGeom>
          <a:solidFill>
            <a:srgbClr val="27A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2219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Better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7939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Give management reliable project/source summaries.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3657600"/>
            <a:ext cx="64008" cy="1874519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82219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Scale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27939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Handle more workflows without proportional manual effort.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1583" y="3657600"/>
            <a:ext cx="64008" cy="1874519"/>
          </a:xfrm>
          <a:prstGeom prst="rect">
            <a:avLst/>
          </a:prstGeom>
          <a:solidFill>
            <a:srgbClr val="0C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3" y="382219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Free Productive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427939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Shift employees from data entry to calling and follow-up.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37387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55624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37387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1C34"/>
                </a:solidFill>
                <a:latin typeface="Aptos"/>
              </a:defRPr>
            </a:pPr>
            <a:r>
              <a:t>Industry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637387"/>
                </a:solidFill>
                <a:latin typeface="Aptos"/>
              </a:defRPr>
            </a:pPr>
            <a:r>
              <a:t>Adaptable to repetitive, rule-driven business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166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280160"/>
          </a:xfrm>
          <a:prstGeom prst="rect">
            <a:avLst/>
          </a:prstGeom>
          <a:solidFill>
            <a:srgbClr val="1F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9047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Real Estate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4800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Lead ingestion, project/source mapping, CRM upload and reporting.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166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64008" cy="1280160"/>
          </a:xfrm>
          <a:prstGeom prst="rect">
            <a:avLst/>
          </a:prstGeom>
          <a:solidFill>
            <a:srgbClr val="14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9047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Healthcare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47672"/>
            <a:ext cx="4800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Structured intake, data workflows and notifications.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98648"/>
            <a:ext cx="5166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98648"/>
            <a:ext cx="64008" cy="1280160"/>
          </a:xfrm>
          <a:prstGeom prst="rect">
            <a:avLst/>
          </a:prstGeom>
          <a:solidFill>
            <a:srgbClr val="27A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063240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520440"/>
            <a:ext cx="4800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Data consolidation, validation and workflow automation.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898648"/>
            <a:ext cx="5166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898648"/>
            <a:ext cx="64008" cy="1280160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063240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Manufacturing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520440"/>
            <a:ext cx="4800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File-to-system workflows and operational reports.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71416"/>
            <a:ext cx="5166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471416"/>
            <a:ext cx="64008" cy="1280160"/>
          </a:xfrm>
          <a:prstGeom prst="rect">
            <a:avLst/>
          </a:prstGeom>
          <a:solidFill>
            <a:srgbClr val="0C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636007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Logistics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093207"/>
            <a:ext cx="4800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Data capture, validation, status workflows and notifications.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471416"/>
            <a:ext cx="5166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471416"/>
            <a:ext cx="64008" cy="1280160"/>
          </a:xfrm>
          <a:prstGeom prst="rect">
            <a:avLst/>
          </a:prstGeom>
          <a:solidFill>
            <a:srgbClr val="279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636007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Education / BPO / SMEs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093207"/>
            <a:ext cx="4800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Spreadsheet, email, CRM and reporting automation.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37387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55624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37387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1C34"/>
                </a:solidFill>
                <a:latin typeface="Aptos"/>
              </a:defRPr>
            </a:pPr>
            <a:r>
              <a:t>Implementation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637387"/>
                </a:solidFill>
                <a:latin typeface="Aptos"/>
              </a:defRPr>
            </a:pPr>
            <a:r>
              <a:t>A phased approach minimizes disruption and preserves existing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874519"/>
          </a:xfrm>
          <a:prstGeom prst="rect">
            <a:avLst/>
          </a:prstGeom>
          <a:solidFill>
            <a:srgbClr val="1F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1. 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Understand process, data sources, CRM and pain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325880"/>
            <a:ext cx="64008" cy="1874519"/>
          </a:xfrm>
          <a:prstGeom prst="rect">
            <a:avLst/>
          </a:prstGeom>
          <a:solidFill>
            <a:srgbClr val="14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2. Configure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4767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Define mappings, rules, fields, projects and 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325880"/>
            <a:ext cx="64008" cy="1874519"/>
          </a:xfrm>
          <a:prstGeom prst="rect">
            <a:avLst/>
          </a:prstGeom>
          <a:solidFill>
            <a:srgbClr val="27A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3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3. Automate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194767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Build and test the workflow with controlled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64008" cy="1874519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2219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4. Integrate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7939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Connect CRM/API, reporting and notifications.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3657600"/>
            <a:ext cx="64008" cy="1874519"/>
          </a:xfrm>
          <a:prstGeom prst="rect">
            <a:avLst/>
          </a:prstGeom>
          <a:solidFill>
            <a:srgbClr val="0C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82219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5. 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27939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Run parallel checks and confirm business rules.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1583" y="3657600"/>
            <a:ext cx="64008" cy="1874519"/>
          </a:xfrm>
          <a:prstGeom prst="rect">
            <a:avLst/>
          </a:prstGeom>
          <a:solidFill>
            <a:srgbClr val="279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3" y="3822191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C1C34"/>
                </a:solidFill>
                <a:latin typeface="Aptos"/>
              </a:defRPr>
            </a:pPr>
            <a:r>
              <a:t>6. Deploy &amp;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4279392"/>
            <a:ext cx="301752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20" b="0">
                <a:solidFill>
                  <a:srgbClr val="637387"/>
                </a:solidFill>
                <a:latin typeface="Aptos"/>
              </a:defRPr>
            </a:pPr>
            <a:r>
              <a:t>Go live with monitoring and documentation.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37387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55624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37387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Automate the Work.</a:t>
            </a:r>
            <a:br/>
            <a:r>
              <a:t>Scale the Business.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>
                <a:solidFill>
                  <a:srgbClr val="27AEE2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2900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50" b="0">
                <a:solidFill>
                  <a:srgbClr val="CDDBEE"/>
                </a:solidFill>
                <a:latin typeface="Aptos"/>
              </a:defRPr>
            </a:pPr>
            <a:r>
              <a:t>Business Automation • CRM Integration • Data Standardization • Analytics •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720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AAC3E1"/>
                </a:solidFill>
                <a:latin typeface="Aptos"/>
              </a:defRPr>
            </a:pPr>
            <a:r>
              <a:t>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892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Vipul Shah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3035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CDDBEE"/>
                </a:solidFill>
                <a:latin typeface="Aptos"/>
              </a:defRPr>
            </a:pPr>
            <a:r>
              <a:t>9316072612  •  shahvipul0405@gmail.com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800600"/>
            <a:ext cx="2240280" cy="347472"/>
          </a:xfrm>
          <a:prstGeom prst="roundRect">
            <a:avLst/>
          </a:prstGeom>
          <a:solidFill>
            <a:srgbClr val="14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LET'S AUTOMATE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56248"/>
            <a:ext cx="4572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37387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5624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37387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